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8" r:id="rId1"/>
    <p:sldMasterId id="2147483689" r:id="rId2"/>
    <p:sldMasterId id="2147483702" r:id="rId3"/>
    <p:sldMasterId id="2147483726" r:id="rId4"/>
    <p:sldMasterId id="2147483734" r:id="rId5"/>
    <p:sldMasterId id="2147483742" r:id="rId6"/>
  </p:sldMasterIdLst>
  <p:notesMasterIdLst>
    <p:notesMasterId r:id="rId38"/>
  </p:notesMasterIdLst>
  <p:handoutMasterIdLst>
    <p:handoutMasterId r:id="rId39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7FF"/>
    <a:srgbClr val="3D3D3E"/>
    <a:srgbClr val="1D8CE3"/>
    <a:srgbClr val="106AAD"/>
    <a:srgbClr val="065F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2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28" d="100"/>
          <a:sy n="28" d="100"/>
        </p:scale>
        <p:origin x="3370" y="12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B7E3C-813C-4BC4-816E-AE277B2B8664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7769225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91586-1F28-49F9-BF0B-68F190D29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9670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434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127" y="3957151"/>
            <a:ext cx="16482301" cy="3938095"/>
          </a:xfrm>
        </p:spPr>
        <p:txBody>
          <a:bodyPr>
            <a:normAutofit/>
          </a:bodyPr>
          <a:lstStyle>
            <a:lvl1pPr>
              <a:defRPr sz="13800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38128" y="8592205"/>
            <a:ext cx="9577004" cy="710434"/>
          </a:xfrm>
        </p:spPr>
        <p:txBody>
          <a:bodyPr anchor="b">
            <a:noAutofit/>
          </a:bodyPr>
          <a:lstStyle>
            <a:lvl1pPr marL="0" indent="0">
              <a:buNone/>
              <a:defRPr sz="4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1238127" y="9621234"/>
            <a:ext cx="10317163" cy="657881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 smtClean="0"/>
              <a:t>Образец текста акцент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1234952" y="12413152"/>
            <a:ext cx="5487988" cy="730250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 dirty="0" smtClean="0"/>
              <a:t>Дата/год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85882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dirty="0" smtClean="0"/>
              <a:t>Дата/год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14352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47776" y="2244725"/>
            <a:ext cx="21891624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47776" y="7204075"/>
            <a:ext cx="21891624" cy="3311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A16-E990-4E9E-84D5-21339464786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6286-45A3-4513-91D5-845CE6E63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302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A16-E990-4E9E-84D5-21339464786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6286-45A3-4513-91D5-845CE6E63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15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7776" y="3419475"/>
            <a:ext cx="21891624" cy="5705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47776" y="9178925"/>
            <a:ext cx="21891624" cy="30003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A16-E990-4E9E-84D5-21339464786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6286-45A3-4513-91D5-845CE6E63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8539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247776" y="5303520"/>
            <a:ext cx="10869612" cy="705040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2269788" y="5303520"/>
            <a:ext cx="10440987" cy="705040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A16-E990-4E9E-84D5-21339464786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6286-45A3-4513-91D5-845CE6E63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8345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7775" y="2564130"/>
            <a:ext cx="21891625" cy="193357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47775" y="4497705"/>
            <a:ext cx="10748963" cy="1295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247775" y="5791200"/>
            <a:ext cx="10748963" cy="65881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12345988" y="4497705"/>
            <a:ext cx="10793412" cy="1295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12345988" y="5791200"/>
            <a:ext cx="10793412" cy="6588125"/>
          </a:xfr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A16-E990-4E9E-84D5-21339464786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6286-45A3-4513-91D5-845CE6E63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1769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A16-E990-4E9E-84D5-21339464786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6286-45A3-4513-91D5-845CE6E63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0937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A16-E990-4E9E-84D5-21339464786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6286-45A3-4513-91D5-845CE6E63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138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2026 год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00070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397" y="2244726"/>
            <a:ext cx="18290381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397" y="7204076"/>
            <a:ext cx="18290381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A16-E990-4E9E-84D5-21339464786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6286-45A3-4513-91D5-845CE6E63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476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A16-E990-4E9E-84D5-21339464786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6286-45A3-4513-91D5-845CE6E63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2534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917" y="3419477"/>
            <a:ext cx="21033938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917" y="9178927"/>
            <a:ext cx="21033938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A16-E990-4E9E-84D5-21339464786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6286-45A3-4513-91D5-845CE6E63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7685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850" y="2238702"/>
            <a:ext cx="21961475" cy="22935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2850" y="4981903"/>
            <a:ext cx="10828317" cy="7372022"/>
          </a:xfr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1697" y="4981903"/>
            <a:ext cx="10747703" cy="73720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A16-E990-4E9E-84D5-21339464786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6286-45A3-4513-91D5-845CE6E63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93598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338" y="1986455"/>
            <a:ext cx="21997987" cy="220815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2850" y="4452115"/>
            <a:ext cx="10783863" cy="1116067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2850" y="5849006"/>
            <a:ext cx="10783863" cy="653031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6006" y="4452115"/>
            <a:ext cx="10793393" cy="1116067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6006" y="5849006"/>
            <a:ext cx="10793393" cy="653031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A16-E990-4E9E-84D5-21339464786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6286-45A3-4513-91D5-845CE6E63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1803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A16-E990-4E9E-84D5-21339464786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6286-45A3-4513-91D5-845CE6E63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7836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A16-E990-4E9E-84D5-21339464786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6286-45A3-4513-91D5-845CE6E63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8988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850" y="2254468"/>
            <a:ext cx="8332444" cy="3326524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7726" y="2254467"/>
            <a:ext cx="12346007" cy="9467633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850" y="5754414"/>
            <a:ext cx="8332444" cy="5983561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A16-E990-4E9E-84D5-21339464786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6286-45A3-4513-91D5-845CE6E63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3624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9157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9680" y="2700020"/>
            <a:ext cx="21874480" cy="2651125"/>
          </a:xfrm>
        </p:spPr>
        <p:txBody>
          <a:bodyPr/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49680" y="5541010"/>
            <a:ext cx="21874480" cy="685418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9780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6660" y="2783840"/>
            <a:ext cx="21968460" cy="174879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16660" y="5135245"/>
            <a:ext cx="21968460" cy="736155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401370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73175" y="2802890"/>
            <a:ext cx="21871305" cy="2651125"/>
          </a:xfrm>
        </p:spPr>
        <p:txBody>
          <a:bodyPr/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73175" y="5434965"/>
            <a:ext cx="10317163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273175" y="7082790"/>
            <a:ext cx="10317163" cy="525144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12183428" y="5454015"/>
            <a:ext cx="10961052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12183428" y="7101840"/>
            <a:ext cx="10961052" cy="5251449"/>
          </a:xfrm>
        </p:spPr>
        <p:txBody>
          <a:bodyPr/>
          <a:lstStyle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15399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09040" y="2840990"/>
            <a:ext cx="21996400" cy="2651125"/>
          </a:xfrm>
        </p:spPr>
        <p:txBody>
          <a:bodyPr/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66460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7068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4031" y="2793512"/>
            <a:ext cx="22004215" cy="26511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84031" y="5714512"/>
            <a:ext cx="22004215" cy="628991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8779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1669" y="3419475"/>
            <a:ext cx="21899685" cy="5705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41669" y="9178925"/>
            <a:ext cx="21899685" cy="30003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478941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4372" y="2325688"/>
            <a:ext cx="21746305" cy="26511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254372" y="5246689"/>
            <a:ext cx="10863016" cy="7907704"/>
          </a:xfr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2559690" y="5246688"/>
            <a:ext cx="10440987" cy="790770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9729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545" y="2793511"/>
            <a:ext cx="21790024" cy="26511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7545" y="5425586"/>
            <a:ext cx="10317163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257545" y="7073412"/>
            <a:ext cx="10317163" cy="624400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11923957" y="5425586"/>
            <a:ext cx="11123611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11923957" y="7073411"/>
            <a:ext cx="11123611" cy="624400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8510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850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37139" y="2816958"/>
            <a:ext cx="21746308" cy="26511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37140" y="5737958"/>
            <a:ext cx="15111046" cy="720431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111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77292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theme" Target="../theme/theme4.xml"/><Relationship Id="rId7" Type="http://schemas.openxmlformats.org/officeDocument/2006/relationships/image" Target="../media/image2.jp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theme" Target="../theme/theme5.xml"/><Relationship Id="rId7" Type="http://schemas.openxmlformats.org/officeDocument/2006/relationships/image" Target="../media/image3.jp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theme" Target="../theme/theme6.xml"/><Relationship Id="rId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71443" y="4288222"/>
            <a:ext cx="16028276" cy="3996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471443" y="8576441"/>
            <a:ext cx="8586952" cy="89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471442" y="12381623"/>
            <a:ext cx="548798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Дата/год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8641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5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3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tx1"/>
            </a:gs>
            <a:gs pos="57000">
              <a:schemeClr val="accent2"/>
            </a:gs>
          </a:gsLst>
          <a:lin ang="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7776" y="2530475"/>
            <a:ext cx="21891624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47776" y="5181600"/>
            <a:ext cx="21891624" cy="7172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247775" y="12712700"/>
            <a:ext cx="591661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DE5D3A16-E990-4E9E-84D5-213394647861}" type="datetimeFigureOut">
              <a:rPr lang="ru-RU" smtClean="0"/>
              <a:pPr/>
              <a:t>22.05.2026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8078788" y="12712700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7222788" y="12712700"/>
            <a:ext cx="591661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D26286-45A3-4513-91D5-845CE6E63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988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717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786" userDrawn="1">
          <p15:clr>
            <a:srgbClr val="F26B43"/>
          </p15:clr>
        </p15:guide>
        <p15:guide id="3" pos="1457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2850" y="1881138"/>
            <a:ext cx="21961475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2850" y="5155324"/>
            <a:ext cx="21961475" cy="7198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2850" y="12712701"/>
            <a:ext cx="595088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D3A16-E990-4E9E-84D5-213394647861}" type="datetimeFigureOut">
              <a:rPr lang="ru-RU" smtClean="0"/>
              <a:pPr/>
              <a:t>22.05.2026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3443" y="12712701"/>
            <a:ext cx="595088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26286-45A3-4513-91D5-845CE6E63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3363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4" r:id="rId9"/>
  </p:sldLayoutIdLst>
  <p:timing>
    <p:tnLst>
      <p:par>
        <p:cTn id="1" dur="indefinite" restart="never" nodeType="tmRoot"/>
      </p:par>
    </p:tnLst>
  </p:timing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2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2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2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2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741" userDrawn="1">
          <p15:clr>
            <a:srgbClr val="F26B43"/>
          </p15:clr>
        </p15:guide>
        <p15:guide id="3" pos="1457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4375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4375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676400" y="12712700"/>
            <a:ext cx="548798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BF382-0775-41DD-9258-DA7345EEE78A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8078788" y="12712700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7222788" y="12712700"/>
            <a:ext cx="548798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E9224-92D7-420A-B3DF-A4A1EFB436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921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1" r:id="rId3"/>
    <p:sldLayoutId id="2147483732" r:id="rId4"/>
    <p:sldLayoutId id="2147483733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4372" y="730250"/>
            <a:ext cx="21746305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4372" y="3651250"/>
            <a:ext cx="21746305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0771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1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4375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4375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095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9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15727680" y="0"/>
            <a:ext cx="8686800" cy="13716000"/>
          </a:xfrm>
          <a:prstGeom prst="rtTriangle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7556480" y="0"/>
            <a:ext cx="6858000" cy="13716000"/>
          </a:xfrm>
          <a:prstGeom prst="rtTriangle">
            <a:avLst/>
          </a:prstGeom>
          <a:solidFill>
            <a:srgbClr val="1E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D99F"/>
                </a:solidFill>
                <a:latin typeface="Arial"/>
              </a:rPr>
              <a:t>2026</a:t>
            </a:r>
          </a:p>
        </p:txBody>
      </p:sp>
      <p:pic>
        <p:nvPicPr>
          <p:cNvPr id="5" name="Picture 4" descr="TasteNestFull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960994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88036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3D3D3E"/>
                </a:solidFill>
                <a:latin typeface="Arial"/>
              </a:rPr>
              <a:t>TasteNest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69737A"/>
                </a:solidFill>
                <a:latin typeface="Arial"/>
              </a:rPr>
              <a:t>Настольное приложение для рецептов, продуктов и планирования питания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92040"/>
            <a:ext cx="9875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5285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48A"/>
                </a:solidFill>
                <a:latin typeface="Arial"/>
              </a:rPr>
              <a:t>Выполнили: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5715000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3D3D3E"/>
                </a:solidFill>
                <a:latin typeface="Arial"/>
              </a:rPr>
              <a:t>Тарасюк Никита Сергеевич
Чиркова Ирина Алексеевна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6611112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9737A"/>
                </a:solidFill>
                <a:latin typeface="Arial"/>
              </a:rPr>
              <a:t>Группа 3524П1ИН2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70080" y="2148840"/>
            <a:ext cx="3840480" cy="3840480"/>
          </a:xfrm>
          <a:prstGeom prst="roundRect">
            <a:avLst/>
          </a:prstGeom>
          <a:solidFill>
            <a:srgbClr val="E8FBF4"/>
          </a:solidFill>
          <a:ln w="12700">
            <a:solidFill>
              <a:srgbClr val="C5E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7863840"/>
            <a:ext cx="2926080" cy="384048"/>
          </a:xfrm>
          <a:prstGeom prst="roundRect">
            <a:avLst/>
          </a:prstGeom>
          <a:solidFill>
            <a:srgbClr val="EAF9FF"/>
          </a:solidFill>
          <a:ln w="12700">
            <a:solidFill>
              <a:srgbClr val="EA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793699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48A"/>
                </a:solidFill>
                <a:latin typeface="Arial"/>
              </a:rPr>
              <a:t>C# + WPF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8458200"/>
            <a:ext cx="2926080" cy="384048"/>
          </a:xfrm>
          <a:prstGeom prst="roundRect">
            <a:avLst/>
          </a:prstGeom>
          <a:solidFill>
            <a:srgbClr val="EAF9FF"/>
          </a:solidFill>
          <a:ln w="12700">
            <a:solidFill>
              <a:srgbClr val="EA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853135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48A"/>
                </a:solidFill>
                <a:latin typeface="Arial"/>
              </a:rPr>
              <a:t>SQL 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9052560"/>
            <a:ext cx="2926080" cy="384048"/>
          </a:xfrm>
          <a:prstGeom prst="roundRect">
            <a:avLst/>
          </a:prstGeom>
          <a:solidFill>
            <a:srgbClr val="EAF9FF"/>
          </a:solidFill>
          <a:ln w="12700">
            <a:solidFill>
              <a:srgbClr val="EA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912571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48A"/>
                </a:solidFill>
                <a:latin typeface="Arial"/>
              </a:rPr>
              <a:t>SSMS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39560" y="1252728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rial"/>
              </a:rPr>
              <a:t>Учебный проект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2768" y="2487168"/>
            <a:ext cx="1874519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71600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0292" cy="13716000"/>
          </a:xfrm>
          <a:prstGeom prst="rect">
            <a:avLst/>
          </a:prstGeom>
          <a:solidFill>
            <a:srgbClr val="14D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4D99F"/>
                </a:solidFill>
                <a:latin typeface="Arial"/>
              </a:rPr>
              <a:t>НАЗНАЧЕНИЕ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4813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3D3D3E"/>
                </a:solidFill>
                <a:latin typeface="Arial"/>
              </a:rPr>
              <a:t>Цель системы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8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48A"/>
                </a:solidFill>
                <a:latin typeface="Arial"/>
              </a:rPr>
              <a:t>TasteNest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0" y="128473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9737A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1645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3D3D3E"/>
                </a:solidFill>
                <a:latin typeface="Arial"/>
              </a:rPr>
              <a:t>TasteNest объединяет рецепты, продукты и планирование питания в одном desktop-приложении с общей SQL Server базой.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514600"/>
            <a:ext cx="749807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2770632"/>
            <a:ext cx="438912" cy="438912"/>
          </a:xfrm>
          <a:prstGeom prst="ellipse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6736" y="284378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48A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43200"/>
            <a:ext cx="640079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3D3D3E"/>
                </a:solidFill>
                <a:latin typeface="Arial"/>
              </a:rPr>
              <a:t>Хранение рецептов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172968"/>
            <a:ext cx="64007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9737A"/>
                </a:solidFill>
                <a:latin typeface="Arial"/>
              </a:rPr>
              <a:t>Категории, ингредиенты, инструкции, фото и избранное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514600"/>
            <a:ext cx="749807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62872" y="2770632"/>
            <a:ext cx="438912" cy="438912"/>
          </a:xfrm>
          <a:prstGeom prst="ellipse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63456" y="284378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48A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2743200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3D3D3E"/>
                </a:solidFill>
                <a:latin typeface="Arial"/>
              </a:rPr>
              <a:t>Продукты пользователя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172968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9737A"/>
                </a:solidFill>
                <a:latin typeface="Arial"/>
              </a:rPr>
              <a:t>Учёт запасов, сроков годности и количества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343400"/>
            <a:ext cx="749807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16152" y="4599432"/>
            <a:ext cx="438912" cy="438912"/>
          </a:xfrm>
          <a:prstGeom prst="ellipse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6736" y="467258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48A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572000"/>
            <a:ext cx="640079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3D3D3E"/>
                </a:solidFill>
                <a:latin typeface="Arial"/>
              </a:rPr>
              <a:t>Покупки и план питания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001768"/>
            <a:ext cx="64007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9737A"/>
                </a:solidFill>
                <a:latin typeface="Arial"/>
              </a:rPr>
              <a:t>Автоматическое формирование списка покупок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4343400"/>
            <a:ext cx="749807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62872" y="4599432"/>
            <a:ext cx="438912" cy="438912"/>
          </a:xfrm>
          <a:prstGeom prst="ellipse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456" y="467258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48A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572000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3D3D3E"/>
                </a:solidFill>
                <a:latin typeface="Arial"/>
              </a:rPr>
              <a:t>Роли и контроль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5001768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9737A"/>
                </a:solidFill>
                <a:latin typeface="Arial"/>
              </a:rPr>
              <a:t>Пользователь, оператор и администратор с разными правами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690372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3D3E"/>
                </a:solidFill>
                <a:latin typeface="Arial"/>
              </a:rPr>
              <a:t>Технологический стек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7543800"/>
            <a:ext cx="1508760" cy="438912"/>
          </a:xfrm>
          <a:prstGeom prst="roundRect">
            <a:avLst/>
          </a:prstGeom>
          <a:solidFill>
            <a:srgbClr val="00348A"/>
          </a:solidFill>
          <a:ln w="12700">
            <a:solidFill>
              <a:srgbClr val="003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7616952"/>
            <a:ext cx="132588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C#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39" y="7543800"/>
            <a:ext cx="1508760" cy="438912"/>
          </a:xfrm>
          <a:prstGeom prst="roundRect">
            <a:avLst/>
          </a:prstGeom>
          <a:solidFill>
            <a:srgbClr val="00348A"/>
          </a:solidFill>
          <a:ln w="12700">
            <a:solidFill>
              <a:srgbClr val="003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79" y="7616952"/>
            <a:ext cx="132588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WPF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09159" y="7543800"/>
            <a:ext cx="1508760" cy="438912"/>
          </a:xfrm>
          <a:prstGeom prst="roundRect">
            <a:avLst/>
          </a:prstGeom>
          <a:solidFill>
            <a:srgbClr val="00348A"/>
          </a:solidFill>
          <a:ln w="12700">
            <a:solidFill>
              <a:srgbClr val="003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599" y="7616952"/>
            <a:ext cx="132588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.NET 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79" y="7543800"/>
            <a:ext cx="1508760" cy="438912"/>
          </a:xfrm>
          <a:prstGeom prst="roundRect">
            <a:avLst/>
          </a:prstGeom>
          <a:solidFill>
            <a:srgbClr val="E8FBF4"/>
          </a:solidFill>
          <a:ln w="12700">
            <a:solidFill>
              <a:srgbClr val="E8F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19" y="7616952"/>
            <a:ext cx="132588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48A"/>
                </a:solidFill>
                <a:latin typeface="Arial"/>
              </a:rPr>
              <a:t>SQL Server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58200" y="7543800"/>
            <a:ext cx="1508760" cy="438912"/>
          </a:xfrm>
          <a:prstGeom prst="roundRect">
            <a:avLst/>
          </a:prstGeom>
          <a:solidFill>
            <a:srgbClr val="E8FBF4"/>
          </a:solidFill>
          <a:ln w="12700">
            <a:solidFill>
              <a:srgbClr val="E8F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7616952"/>
            <a:ext cx="132588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48A"/>
                </a:solidFill>
                <a:latin typeface="Arial"/>
              </a:rPr>
              <a:t>SSMS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32720" y="7543800"/>
            <a:ext cx="1508760" cy="438912"/>
          </a:xfrm>
          <a:prstGeom prst="roundRect">
            <a:avLst/>
          </a:prstGeom>
          <a:solidFill>
            <a:srgbClr val="E8FBF4"/>
          </a:solidFill>
          <a:ln w="12700">
            <a:solidFill>
              <a:srgbClr val="E8F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0" y="7616952"/>
            <a:ext cx="132588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48A"/>
                </a:solidFill>
                <a:latin typeface="Arial"/>
              </a:rPr>
              <a:t>T-SQL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727680" y="2148840"/>
            <a:ext cx="6675120" cy="544068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139159" y="2606040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348A"/>
                </a:solidFill>
                <a:latin typeface="Arial"/>
              </a:rPr>
              <a:t>Ключевой результат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139159" y="3246120"/>
            <a:ext cx="5669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D3D3E"/>
                </a:solidFill>
                <a:latin typeface="Arial"/>
              </a:defRPr>
            </a:pPr>
            <a:r>
              <a:t>единая база данных для всех пользователей</a:t>
            </a:r>
          </a:p>
          <a:p>
            <a:pPr>
              <a:spcAft>
                <a:spcPts val="600"/>
              </a:spcAft>
              <a:defRPr sz="1500">
                <a:solidFill>
                  <a:srgbClr val="3D3D3E"/>
                </a:solidFill>
                <a:latin typeface="Arial"/>
              </a:defRPr>
            </a:pPr>
            <a:r>
              <a:t>регистрация и авторизация</a:t>
            </a:r>
          </a:p>
          <a:p>
            <a:pPr>
              <a:spcAft>
                <a:spcPts val="600"/>
              </a:spcAft>
              <a:defRPr sz="1500">
                <a:solidFill>
                  <a:srgbClr val="3D3D3E"/>
                </a:solidFill>
                <a:latin typeface="Arial"/>
              </a:defRPr>
            </a:pPr>
            <a:r>
              <a:t>публикация рецептов через модерацию</a:t>
            </a:r>
          </a:p>
          <a:p>
            <a:pPr>
              <a:spcAft>
                <a:spcPts val="600"/>
              </a:spcAft>
              <a:defRPr sz="1500">
                <a:solidFill>
                  <a:srgbClr val="3D3D3E"/>
                </a:solidFill>
                <a:latin typeface="Arial"/>
              </a:defRPr>
            </a:pPr>
            <a:r>
              <a:t>пользовательская сборка без установки SQL 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49" name="Connector 48"/>
          <p:cNvCxnSpPr/>
          <p:nvPr/>
        </p:nvCxnSpPr>
        <p:spPr>
          <a:xfrm>
            <a:off x="2743200" y="3154680"/>
            <a:ext cx="5669280" cy="22860"/>
          </a:xfrm>
          <a:prstGeom prst="line">
            <a:avLst/>
          </a:prstGeom>
          <a:ln w="19050">
            <a:solidFill>
              <a:srgbClr val="8AA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743200" y="3154680"/>
            <a:ext cx="0" cy="2971800"/>
          </a:xfrm>
          <a:prstGeom prst="line">
            <a:avLst/>
          </a:prstGeom>
          <a:ln w="19050">
            <a:solidFill>
              <a:srgbClr val="8AA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743200" y="3154680"/>
            <a:ext cx="5532120" cy="2628900"/>
          </a:xfrm>
          <a:prstGeom prst="line">
            <a:avLst/>
          </a:prstGeom>
          <a:ln w="19050">
            <a:solidFill>
              <a:srgbClr val="8AA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743200" y="3154680"/>
            <a:ext cx="10789920" cy="2628900"/>
          </a:xfrm>
          <a:prstGeom prst="line">
            <a:avLst/>
          </a:prstGeom>
          <a:ln w="19050">
            <a:solidFill>
              <a:srgbClr val="8AA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743200" y="3154680"/>
            <a:ext cx="15864839" cy="2628900"/>
          </a:xfrm>
          <a:prstGeom prst="line">
            <a:avLst/>
          </a:prstGeom>
          <a:ln w="19050">
            <a:solidFill>
              <a:srgbClr val="8AA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412480" y="2903220"/>
            <a:ext cx="5166360" cy="274320"/>
          </a:xfrm>
          <a:prstGeom prst="line">
            <a:avLst/>
          </a:prstGeom>
          <a:ln w="19050">
            <a:solidFill>
              <a:srgbClr val="8AA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412480" y="2903220"/>
            <a:ext cx="10012680" cy="274320"/>
          </a:xfrm>
          <a:prstGeom prst="line">
            <a:avLst/>
          </a:prstGeom>
          <a:ln w="19050">
            <a:solidFill>
              <a:srgbClr val="8AA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743200" y="2903220"/>
            <a:ext cx="15681960" cy="251460"/>
          </a:xfrm>
          <a:prstGeom prst="line">
            <a:avLst/>
          </a:prstGeom>
          <a:ln w="19050">
            <a:solidFill>
              <a:srgbClr val="8AA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8275320" y="3177540"/>
            <a:ext cx="137160" cy="2606040"/>
          </a:xfrm>
          <a:prstGeom prst="line">
            <a:avLst/>
          </a:prstGeom>
          <a:ln w="19050">
            <a:solidFill>
              <a:srgbClr val="8AA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412480" y="3177540"/>
            <a:ext cx="5120640" cy="2606040"/>
          </a:xfrm>
          <a:prstGeom prst="line">
            <a:avLst/>
          </a:prstGeom>
          <a:ln w="19050">
            <a:solidFill>
              <a:srgbClr val="8AA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743200" y="3154680"/>
            <a:ext cx="5486400" cy="6012180"/>
          </a:xfrm>
          <a:prstGeom prst="line">
            <a:avLst/>
          </a:prstGeom>
          <a:ln w="19050">
            <a:solidFill>
              <a:srgbClr val="8AA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743200" y="3154680"/>
            <a:ext cx="11521440" cy="6012180"/>
          </a:xfrm>
          <a:prstGeom prst="line">
            <a:avLst/>
          </a:prstGeom>
          <a:ln w="19050">
            <a:solidFill>
              <a:srgbClr val="8AA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0" y="0"/>
            <a:ext cx="201168" cy="1371600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0292" cy="13716000"/>
          </a:xfrm>
          <a:prstGeom prst="rect">
            <a:avLst/>
          </a:prstGeom>
          <a:solidFill>
            <a:srgbClr val="14D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4D99F"/>
                </a:solidFill>
                <a:latin typeface="Arial"/>
              </a:rPr>
              <a:t>БАЗА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4813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3D3D3E"/>
                </a:solidFill>
                <a:latin typeface="Arial"/>
              </a:rPr>
              <a:t>ER-диаграмма базы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8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48A"/>
                </a:solidFill>
                <a:latin typeface="Arial"/>
              </a:rPr>
              <a:t>TasteNest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0" y="128473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9737A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17320"/>
            <a:ext cx="17007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9737A"/>
                </a:solidFill>
                <a:latin typeface="Arial"/>
              </a:rPr>
              <a:t>Основная база: RecipeKeeperDb. Центральная сущность — пользователь, вокруг него связаны рецепты, продукты, план питания, покупки и журнал действий оператора.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40280"/>
            <a:ext cx="3657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240280"/>
            <a:ext cx="3657600" cy="41148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40864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770632"/>
            <a:ext cx="3328416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D3D3E"/>
                </a:solidFill>
                <a:latin typeface="Arial"/>
              </a:rPr>
              <a:t>PK Id
Email
PasswordHash
Role
Status
CreatedAt
LastLoginAt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40233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011680"/>
            <a:ext cx="4023360" cy="41148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12264"/>
            <a:ext cx="3749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Recipes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542032"/>
            <a:ext cx="36941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D3D3E"/>
                </a:solidFill>
                <a:latin typeface="Arial"/>
              </a:rPr>
              <a:t>PK Id
Title
Description
CategoryId
UserId
Status
ImageUrl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303520"/>
            <a:ext cx="3657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5303520"/>
            <a:ext cx="3657600" cy="41148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404104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833872"/>
            <a:ext cx="332841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D3D3E"/>
                </a:solidFill>
                <a:latin typeface="Arial"/>
              </a:rPr>
              <a:t>PK Id
FK UserId
Name
Quantity
ExpiresAt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507492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7960" y="5074920"/>
            <a:ext cx="3474720" cy="41148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5175504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Favorites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5605272"/>
            <a:ext cx="314553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D3D3E"/>
                </a:solidFill>
                <a:latin typeface="Arial"/>
              </a:rPr>
              <a:t>PK UserId + RecipeId
CreatedAt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795760" y="507492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795760" y="5074920"/>
            <a:ext cx="3474720" cy="41148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32920" y="5175504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MealPlan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60352" y="5605272"/>
            <a:ext cx="314553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D3D3E"/>
                </a:solidFill>
                <a:latin typeface="Arial"/>
              </a:rPr>
              <a:t>PK UserId + DayName
FK RecipeId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642080" y="5074920"/>
            <a:ext cx="3931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642080" y="5074920"/>
            <a:ext cx="3931920" cy="41148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779239" y="51755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ShoppingItems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806672" y="5605272"/>
            <a:ext cx="360273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D3D3E"/>
                </a:solidFill>
                <a:latin typeface="Arial"/>
              </a:rPr>
              <a:t>PK Id
FK UserId
Name
Quantity
IsBought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795760" y="2057400"/>
            <a:ext cx="35661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795760" y="2057400"/>
            <a:ext cx="3566160" cy="41148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932920" y="2157984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Ingredients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960352" y="2587752"/>
            <a:ext cx="323697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D3D3E"/>
                </a:solidFill>
                <a:latin typeface="Arial"/>
              </a:rPr>
              <a:t>PK Id
FK RecipeId
Name
Quantity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642080" y="2057400"/>
            <a:ext cx="35661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642080" y="2057400"/>
            <a:ext cx="3566160" cy="41148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779239" y="2157984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RecipeViews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806672" y="2587752"/>
            <a:ext cx="323697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D3D3E"/>
                </a:solidFill>
                <a:latin typeface="Arial"/>
              </a:rPr>
              <a:t>PK Id
FK UserId
FK RecipeId
ViewedAt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52160" y="8321040"/>
            <a:ext cx="47548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52160" y="8321040"/>
            <a:ext cx="4754880" cy="41148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89320" y="8421624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OperatorActionLog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16752" y="8851392"/>
            <a:ext cx="4425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D3D3E"/>
                </a:solidFill>
                <a:latin typeface="Arial"/>
              </a:rPr>
              <a:t>PK Id
OperatorUserId
TargetUserId
Reason
Old/New Status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887200" y="8321040"/>
            <a:ext cx="47548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887200" y="8321040"/>
            <a:ext cx="4754880" cy="41148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024360" y="8421624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OperatorUserNotes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051792" y="8851392"/>
            <a:ext cx="4425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D3D3E"/>
                </a:solidFill>
                <a:latin typeface="Arial"/>
              </a:rPr>
              <a:t>PK UserId
Note
UpdatedByUserId
UpdatedAt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" y="11841480"/>
            <a:ext cx="1371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9737A"/>
                </a:solidFill>
                <a:latin typeface="Arial"/>
              </a:rPr>
              <a:t>Основные связи показаны без обозначений 1:N, чтобы диаграмма оставалась читаемой на слайде.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71600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0292" cy="13716000"/>
          </a:xfrm>
          <a:prstGeom prst="rect">
            <a:avLst/>
          </a:prstGeom>
          <a:solidFill>
            <a:srgbClr val="14D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4D99F"/>
                </a:solidFill>
                <a:latin typeface="Arial"/>
              </a:rPr>
              <a:t>РОЛИ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4813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3D3D3E"/>
                </a:solidFill>
                <a:latin typeface="Arial"/>
              </a:rPr>
              <a:t>Диаграмма вариантов использования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8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48A"/>
                </a:solidFill>
                <a:latin typeface="Arial"/>
              </a:rPr>
              <a:t>TasteNest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0" y="128473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9737A"/>
                </a:solidFill>
                <a:latin typeface="Arial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600200"/>
            <a:ext cx="16184880" cy="950976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348A"/>
                </a:solidFill>
                <a:latin typeface="Arial"/>
              </a:rPr>
              <a:t>TasteNest</a:t>
            </a:r>
          </a:p>
        </p:txBody>
      </p:sp>
      <p:sp>
        <p:nvSpPr>
          <p:cNvPr id="10" name="Oval 9"/>
          <p:cNvSpPr/>
          <p:nvPr/>
        </p:nvSpPr>
        <p:spPr>
          <a:xfrm>
            <a:off x="1508760" y="274320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003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700784" y="3127248"/>
            <a:ext cx="0" cy="530352"/>
          </a:xfrm>
          <a:prstGeom prst="line">
            <a:avLst/>
          </a:prstGeom>
          <a:ln>
            <a:solidFill>
              <a:srgbClr val="003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34440" y="3337560"/>
            <a:ext cx="914400" cy="0"/>
          </a:xfrm>
          <a:prstGeom prst="line">
            <a:avLst/>
          </a:prstGeom>
          <a:ln>
            <a:solidFill>
              <a:srgbClr val="003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371600" y="3657600"/>
            <a:ext cx="329184" cy="411480"/>
          </a:xfrm>
          <a:prstGeom prst="line">
            <a:avLst/>
          </a:prstGeom>
          <a:ln>
            <a:solidFill>
              <a:srgbClr val="003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00784" y="3657600"/>
            <a:ext cx="329184" cy="411480"/>
          </a:xfrm>
          <a:prstGeom prst="line">
            <a:avLst/>
          </a:prstGeom>
          <a:ln>
            <a:solidFill>
              <a:srgbClr val="003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97280" y="4206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D3D3E"/>
                </a:solidFill>
                <a:latin typeface="Arial"/>
              </a:rPr>
              <a:t>Пользователь</a:t>
            </a:r>
          </a:p>
        </p:txBody>
      </p:sp>
      <p:sp>
        <p:nvSpPr>
          <p:cNvPr id="16" name="Oval 15"/>
          <p:cNvSpPr/>
          <p:nvPr/>
        </p:nvSpPr>
        <p:spPr>
          <a:xfrm>
            <a:off x="1508760" y="649224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003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700784" y="6876288"/>
            <a:ext cx="0" cy="530352"/>
          </a:xfrm>
          <a:prstGeom prst="line">
            <a:avLst/>
          </a:prstGeom>
          <a:ln>
            <a:solidFill>
              <a:srgbClr val="003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34440" y="7086600"/>
            <a:ext cx="914400" cy="0"/>
          </a:xfrm>
          <a:prstGeom prst="line">
            <a:avLst/>
          </a:prstGeom>
          <a:ln>
            <a:solidFill>
              <a:srgbClr val="003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371600" y="7406640"/>
            <a:ext cx="329184" cy="411479"/>
          </a:xfrm>
          <a:prstGeom prst="line">
            <a:avLst/>
          </a:prstGeom>
          <a:ln>
            <a:solidFill>
              <a:srgbClr val="003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00784" y="7406640"/>
            <a:ext cx="329184" cy="411479"/>
          </a:xfrm>
          <a:prstGeom prst="line">
            <a:avLst/>
          </a:prstGeom>
          <a:ln>
            <a:solidFill>
              <a:srgbClr val="003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7280" y="795527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D3D3E"/>
                </a:solidFill>
                <a:latin typeface="Arial"/>
              </a:rPr>
              <a:t>Оператор</a:t>
            </a:r>
          </a:p>
        </p:txBody>
      </p:sp>
      <p:sp>
        <p:nvSpPr>
          <p:cNvPr id="22" name="Oval 21"/>
          <p:cNvSpPr/>
          <p:nvPr/>
        </p:nvSpPr>
        <p:spPr>
          <a:xfrm>
            <a:off x="21488400" y="457200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003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1680423" y="4956048"/>
            <a:ext cx="0" cy="530352"/>
          </a:xfrm>
          <a:prstGeom prst="line">
            <a:avLst/>
          </a:prstGeom>
          <a:ln>
            <a:solidFill>
              <a:srgbClr val="003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1214080" y="5166360"/>
            <a:ext cx="914400" cy="0"/>
          </a:xfrm>
          <a:prstGeom prst="line">
            <a:avLst/>
          </a:prstGeom>
          <a:ln>
            <a:solidFill>
              <a:srgbClr val="003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1351239" y="5486400"/>
            <a:ext cx="329184" cy="411480"/>
          </a:xfrm>
          <a:prstGeom prst="line">
            <a:avLst/>
          </a:prstGeom>
          <a:ln>
            <a:solidFill>
              <a:srgbClr val="003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680423" y="5486400"/>
            <a:ext cx="329185" cy="411480"/>
          </a:xfrm>
          <a:prstGeom prst="line">
            <a:avLst/>
          </a:prstGeom>
          <a:ln>
            <a:solidFill>
              <a:srgbClr val="003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76919" y="6035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D3D3E"/>
                </a:solidFill>
                <a:latin typeface="Arial"/>
              </a:rPr>
              <a:t>Администратор</a:t>
            </a:r>
          </a:p>
        </p:txBody>
      </p:sp>
      <p:sp>
        <p:nvSpPr>
          <p:cNvPr id="28" name="Oval 27"/>
          <p:cNvSpPr/>
          <p:nvPr/>
        </p:nvSpPr>
        <p:spPr>
          <a:xfrm>
            <a:off x="5212080" y="2514600"/>
            <a:ext cx="292608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21808" y="271576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0">
                <a:solidFill>
                  <a:srgbClr val="3D3D3E"/>
                </a:solidFill>
                <a:latin typeface="Arial"/>
              </a:rPr>
              <a:t>Регистрация и вход</a:t>
            </a:r>
          </a:p>
        </p:txBody>
      </p:sp>
      <p:sp>
        <p:nvSpPr>
          <p:cNvPr id="30" name="Oval 29"/>
          <p:cNvSpPr/>
          <p:nvPr/>
        </p:nvSpPr>
        <p:spPr>
          <a:xfrm>
            <a:off x="8961120" y="2514600"/>
            <a:ext cx="292608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71576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0">
                <a:solidFill>
                  <a:srgbClr val="3D3D3E"/>
                </a:solidFill>
                <a:latin typeface="Arial"/>
              </a:rPr>
              <a:t>Поиск рецептов</a:t>
            </a:r>
          </a:p>
        </p:txBody>
      </p:sp>
      <p:sp>
        <p:nvSpPr>
          <p:cNvPr id="32" name="Oval 31"/>
          <p:cNvSpPr/>
          <p:nvPr/>
        </p:nvSpPr>
        <p:spPr>
          <a:xfrm>
            <a:off x="12801600" y="2514600"/>
            <a:ext cx="292608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911328" y="271576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0">
                <a:solidFill>
                  <a:srgbClr val="3D3D3E"/>
                </a:solidFill>
                <a:latin typeface="Arial"/>
              </a:rPr>
              <a:t>Учёт продуктов</a:t>
            </a:r>
          </a:p>
        </p:txBody>
      </p:sp>
      <p:sp>
        <p:nvSpPr>
          <p:cNvPr id="34" name="Oval 33"/>
          <p:cNvSpPr/>
          <p:nvPr/>
        </p:nvSpPr>
        <p:spPr>
          <a:xfrm>
            <a:off x="16459200" y="2514600"/>
            <a:ext cx="292608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568928" y="271576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0">
                <a:solidFill>
                  <a:srgbClr val="3D3D3E"/>
                </a:solidFill>
                <a:latin typeface="Arial"/>
              </a:rPr>
              <a:t>План питания</a:t>
            </a:r>
          </a:p>
        </p:txBody>
      </p:sp>
      <p:sp>
        <p:nvSpPr>
          <p:cNvPr id="36" name="Oval 35"/>
          <p:cNvSpPr/>
          <p:nvPr/>
        </p:nvSpPr>
        <p:spPr>
          <a:xfrm>
            <a:off x="6766560" y="4846320"/>
            <a:ext cx="292608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76288" y="504748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0">
                <a:solidFill>
                  <a:srgbClr val="3D3D3E"/>
                </a:solidFill>
                <a:latin typeface="Arial"/>
              </a:rPr>
              <a:t>Список покупок</a:t>
            </a:r>
          </a:p>
        </p:txBody>
      </p:sp>
      <p:sp>
        <p:nvSpPr>
          <p:cNvPr id="38" name="Oval 37"/>
          <p:cNvSpPr/>
          <p:nvPr/>
        </p:nvSpPr>
        <p:spPr>
          <a:xfrm>
            <a:off x="10972800" y="4846320"/>
            <a:ext cx="292608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82528" y="504748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0">
                <a:solidFill>
                  <a:srgbClr val="3D3D3E"/>
                </a:solidFill>
                <a:latin typeface="Arial"/>
              </a:rPr>
              <a:t>Добавить рецепт</a:t>
            </a:r>
          </a:p>
        </p:txBody>
      </p:sp>
      <p:sp>
        <p:nvSpPr>
          <p:cNvPr id="40" name="Oval 39"/>
          <p:cNvSpPr/>
          <p:nvPr/>
        </p:nvSpPr>
        <p:spPr>
          <a:xfrm>
            <a:off x="14996159" y="4846320"/>
            <a:ext cx="292608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105888" y="504748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0">
                <a:solidFill>
                  <a:srgbClr val="3D3D3E"/>
                </a:solidFill>
                <a:latin typeface="Arial"/>
              </a:rPr>
              <a:t>Просмотр статистики</a:t>
            </a:r>
          </a:p>
        </p:txBody>
      </p:sp>
      <p:sp>
        <p:nvSpPr>
          <p:cNvPr id="42" name="Oval 41"/>
          <p:cNvSpPr/>
          <p:nvPr/>
        </p:nvSpPr>
        <p:spPr>
          <a:xfrm>
            <a:off x="6766560" y="7315200"/>
            <a:ext cx="292608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76288" y="751636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0">
                <a:solidFill>
                  <a:srgbClr val="3D3D3E"/>
                </a:solidFill>
                <a:latin typeface="Arial"/>
              </a:rPr>
              <a:t>Вести заметки</a:t>
            </a:r>
          </a:p>
        </p:txBody>
      </p:sp>
      <p:sp>
        <p:nvSpPr>
          <p:cNvPr id="44" name="Oval 43"/>
          <p:cNvSpPr/>
          <p:nvPr/>
        </p:nvSpPr>
        <p:spPr>
          <a:xfrm>
            <a:off x="10972800" y="7315200"/>
            <a:ext cx="292608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82528" y="751636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0">
                <a:solidFill>
                  <a:srgbClr val="3D3D3E"/>
                </a:solidFill>
                <a:latin typeface="Arial"/>
              </a:rPr>
              <a:t>Блокировать пользователей</a:t>
            </a:r>
          </a:p>
        </p:txBody>
      </p:sp>
      <p:sp>
        <p:nvSpPr>
          <p:cNvPr id="46" name="Oval 45"/>
          <p:cNvSpPr/>
          <p:nvPr/>
        </p:nvSpPr>
        <p:spPr>
          <a:xfrm>
            <a:off x="14996159" y="7315200"/>
            <a:ext cx="292608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105888" y="751636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0">
                <a:solidFill>
                  <a:srgbClr val="3D3D3E"/>
                </a:solidFill>
                <a:latin typeface="Arial"/>
              </a:rPr>
              <a:t>Модерация рецептов</a:t>
            </a:r>
          </a:p>
        </p:txBody>
      </p:sp>
      <p:sp>
        <p:nvSpPr>
          <p:cNvPr id="48" name="Oval 47"/>
          <p:cNvSpPr/>
          <p:nvPr/>
        </p:nvSpPr>
        <p:spPr>
          <a:xfrm>
            <a:off x="8686800" y="9326880"/>
            <a:ext cx="292608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528" y="952804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0">
                <a:solidFill>
                  <a:srgbClr val="3D3D3E"/>
                </a:solidFill>
                <a:latin typeface="Arial"/>
              </a:rPr>
              <a:t>Назначение ролей</a:t>
            </a:r>
          </a:p>
        </p:txBody>
      </p:sp>
      <p:sp>
        <p:nvSpPr>
          <p:cNvPr id="50" name="Oval 49"/>
          <p:cNvSpPr/>
          <p:nvPr/>
        </p:nvSpPr>
        <p:spPr>
          <a:xfrm>
            <a:off x="13898880" y="9326880"/>
            <a:ext cx="292608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008607" y="952804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0">
                <a:solidFill>
                  <a:srgbClr val="3D3D3E"/>
                </a:solidFill>
                <a:latin typeface="Arial"/>
              </a:rPr>
              <a:t>Управление SQL Server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2743200" y="2857500"/>
            <a:ext cx="3931920" cy="891539"/>
          </a:xfrm>
          <a:prstGeom prst="line">
            <a:avLst/>
          </a:prstGeom>
          <a:ln w="19050">
            <a:solidFill>
              <a:srgbClr val="B6C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743200" y="2857500"/>
            <a:ext cx="7680960" cy="891539"/>
          </a:xfrm>
          <a:prstGeom prst="line">
            <a:avLst/>
          </a:prstGeom>
          <a:ln w="19050">
            <a:solidFill>
              <a:srgbClr val="B6C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743200" y="2857500"/>
            <a:ext cx="11521440" cy="891539"/>
          </a:xfrm>
          <a:prstGeom prst="line">
            <a:avLst/>
          </a:prstGeom>
          <a:ln w="19050">
            <a:solidFill>
              <a:srgbClr val="B6C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743200" y="2857500"/>
            <a:ext cx="15179040" cy="891539"/>
          </a:xfrm>
          <a:prstGeom prst="line">
            <a:avLst/>
          </a:prstGeom>
          <a:ln w="19050">
            <a:solidFill>
              <a:srgbClr val="B6C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743200" y="3749039"/>
            <a:ext cx="5486400" cy="1440181"/>
          </a:xfrm>
          <a:prstGeom prst="line">
            <a:avLst/>
          </a:prstGeom>
          <a:ln w="19050">
            <a:solidFill>
              <a:srgbClr val="B6C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743200" y="3749039"/>
            <a:ext cx="9692640" cy="1440181"/>
          </a:xfrm>
          <a:prstGeom prst="line">
            <a:avLst/>
          </a:prstGeom>
          <a:ln w="19050">
            <a:solidFill>
              <a:srgbClr val="B6C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743200" y="3749039"/>
            <a:ext cx="13716000" cy="1440181"/>
          </a:xfrm>
          <a:prstGeom prst="line">
            <a:avLst/>
          </a:prstGeom>
          <a:ln w="19050">
            <a:solidFill>
              <a:srgbClr val="B6C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743200" y="7498079"/>
            <a:ext cx="5486400" cy="160021"/>
          </a:xfrm>
          <a:prstGeom prst="line">
            <a:avLst/>
          </a:prstGeom>
          <a:ln w="19050">
            <a:solidFill>
              <a:srgbClr val="B6C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743200" y="7498079"/>
            <a:ext cx="9692640" cy="160021"/>
          </a:xfrm>
          <a:prstGeom prst="line">
            <a:avLst/>
          </a:prstGeom>
          <a:ln w="19050">
            <a:solidFill>
              <a:srgbClr val="B6C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6459200" y="5669280"/>
            <a:ext cx="4572000" cy="1988820"/>
          </a:xfrm>
          <a:prstGeom prst="line">
            <a:avLst/>
          </a:prstGeom>
          <a:ln w="19050">
            <a:solidFill>
              <a:srgbClr val="B6C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10149840" y="5669280"/>
            <a:ext cx="10881360" cy="4000500"/>
          </a:xfrm>
          <a:prstGeom prst="line">
            <a:avLst/>
          </a:prstGeom>
          <a:ln w="19050">
            <a:solidFill>
              <a:srgbClr val="B6C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5361920" y="5669280"/>
            <a:ext cx="5669280" cy="4000500"/>
          </a:xfrm>
          <a:prstGeom prst="line">
            <a:avLst/>
          </a:prstGeom>
          <a:ln w="19050">
            <a:solidFill>
              <a:srgbClr val="B6C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71600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0292" cy="13716000"/>
          </a:xfrm>
          <a:prstGeom prst="rect">
            <a:avLst/>
          </a:prstGeom>
          <a:solidFill>
            <a:srgbClr val="14D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4D99F"/>
                </a:solidFill>
                <a:latin typeface="Arial"/>
              </a:rPr>
              <a:t>РАБОЧИЕ ПРОЦЕССЫ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4813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3D3D3E"/>
                </a:solidFill>
                <a:latin typeface="Arial"/>
              </a:rPr>
              <a:t>Сценарии использования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8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48A"/>
                </a:solidFill>
                <a:latin typeface="Arial"/>
              </a:rPr>
              <a:t>TasteNest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0" y="128473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9737A"/>
                </a:solidFill>
                <a:latin typeface="Arial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057400"/>
            <a:ext cx="4983480" cy="7132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2468880"/>
            <a:ext cx="731520" cy="731520"/>
          </a:xfrm>
          <a:prstGeom prst="ellipse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566160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3D3E"/>
                </a:solidFill>
                <a:latin typeface="Arial"/>
              </a:rPr>
              <a:t>Поиск и покупка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60520"/>
            <a:ext cx="4251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9737A"/>
                </a:solidFill>
                <a:latin typeface="Arial"/>
              </a:rPr>
              <a:t>Пользователь выбирает категорию или ингредиенты, открывает рецепт и формирует список покупок с учётом своих продуктов.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7955279"/>
            <a:ext cx="2377440" cy="438912"/>
          </a:xfrm>
          <a:prstGeom prst="roundRect">
            <a:avLst/>
          </a:prstGeom>
          <a:solidFill>
            <a:srgbClr val="E8FBF4"/>
          </a:solidFill>
          <a:ln w="12700">
            <a:solidFill>
              <a:srgbClr val="E8F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8028431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348A"/>
                </a:solidFill>
                <a:latin typeface="Arial"/>
              </a:rPr>
              <a:t>Пользователь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15000" y="5577840"/>
            <a:ext cx="731520" cy="0"/>
          </a:xfrm>
          <a:prstGeom prst="line">
            <a:avLst/>
          </a:prstGeom>
          <a:ln w="19050">
            <a:solidFill>
              <a:srgbClr val="14D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83680" y="2057400"/>
            <a:ext cx="4983480" cy="7132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03720" y="2468880"/>
            <a:ext cx="731520" cy="731520"/>
          </a:xfrm>
          <a:prstGeom prst="ellipse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670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566160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3D3E"/>
                </a:solidFill>
                <a:latin typeface="Arial"/>
              </a:rPr>
              <a:t>Публикация рецепта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160520"/>
            <a:ext cx="4251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9737A"/>
                </a:solidFill>
                <a:latin typeface="Arial"/>
              </a:rPr>
              <a:t>Пользователь заполняет форму рецепта. Запись попадает в статус «На проверке» и ожидает решения администратора.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7955279"/>
            <a:ext cx="2377440" cy="438912"/>
          </a:xfrm>
          <a:prstGeom prst="roundRect">
            <a:avLst/>
          </a:prstGeom>
          <a:solidFill>
            <a:srgbClr val="E8FBF4"/>
          </a:solidFill>
          <a:ln w="12700">
            <a:solidFill>
              <a:srgbClr val="E8F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59" y="8028431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348A"/>
                </a:solidFill>
                <a:latin typeface="Arial"/>
              </a:rPr>
              <a:t>Пользователь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338560" y="5577840"/>
            <a:ext cx="731520" cy="0"/>
          </a:xfrm>
          <a:prstGeom prst="line">
            <a:avLst/>
          </a:prstGeom>
          <a:ln w="19050">
            <a:solidFill>
              <a:srgbClr val="14D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2207240" y="2057400"/>
            <a:ext cx="4983480" cy="7132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527280" y="2468880"/>
            <a:ext cx="731520" cy="731520"/>
          </a:xfrm>
          <a:prstGeom prst="ellipse">
            <a:avLst/>
          </a:prstGeom>
          <a:solidFill>
            <a:srgbClr val="14D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527280" y="2670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0" y="3566160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3D3E"/>
                </a:solidFill>
                <a:latin typeface="Arial"/>
              </a:rPr>
              <a:t>Контроль пользователей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27280" y="4160520"/>
            <a:ext cx="4251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9737A"/>
                </a:solidFill>
                <a:latin typeface="Arial"/>
              </a:rPr>
              <a:t>Оператор видит только User-аккаунты, добавляет служебные заметки, блокирует или разблокирует пользователя с причиной.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527280" y="7955279"/>
            <a:ext cx="2377440" cy="438912"/>
          </a:xfrm>
          <a:prstGeom prst="roundRect">
            <a:avLst/>
          </a:prstGeom>
          <a:solidFill>
            <a:srgbClr val="E8FBF4"/>
          </a:solidFill>
          <a:ln w="12700">
            <a:solidFill>
              <a:srgbClr val="E8F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618720" y="8028431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348A"/>
                </a:solidFill>
                <a:latin typeface="Arial"/>
              </a:rPr>
              <a:t>Оператор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6962120" y="5577840"/>
            <a:ext cx="731520" cy="0"/>
          </a:xfrm>
          <a:prstGeom prst="line">
            <a:avLst/>
          </a:prstGeom>
          <a:ln w="19050">
            <a:solidFill>
              <a:srgbClr val="14D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7830800" y="2057400"/>
            <a:ext cx="4983480" cy="7132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8150840" y="2468880"/>
            <a:ext cx="731520" cy="731520"/>
          </a:xfrm>
          <a:prstGeom prst="ellipse">
            <a:avLst/>
          </a:prstGeom>
          <a:solidFill>
            <a:srgbClr val="14D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150840" y="2670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50840" y="3566160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3D3E"/>
                </a:solidFill>
                <a:latin typeface="Arial"/>
              </a:rPr>
              <a:t>Администрирование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150840" y="4160520"/>
            <a:ext cx="4251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9737A"/>
                </a:solidFill>
                <a:latin typeface="Arial"/>
              </a:rPr>
              <a:t>Администратор назначает роли, модерирует рецепты, удаляет устаревший контент и управляет SQL Server.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150840" y="7955279"/>
            <a:ext cx="2377440" cy="438912"/>
          </a:xfrm>
          <a:prstGeom prst="roundRect">
            <a:avLst/>
          </a:prstGeom>
          <a:solidFill>
            <a:srgbClr val="E8FBF4"/>
          </a:solidFill>
          <a:ln w="12700">
            <a:solidFill>
              <a:srgbClr val="E8F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42280" y="8028431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348A"/>
                </a:solidFill>
                <a:latin typeface="Arial"/>
              </a:rPr>
              <a:t>Администратор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71600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0292" cy="13716000"/>
          </a:xfrm>
          <a:prstGeom prst="rect">
            <a:avLst/>
          </a:prstGeom>
          <a:solidFill>
            <a:srgbClr val="14D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4D99F"/>
                </a:solidFill>
                <a:latin typeface="Arial"/>
              </a:rPr>
              <a:t>ОТКРЫТИЕ РЕЦЕПТА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4813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3D3D3E"/>
                </a:solidFill>
                <a:latin typeface="Arial"/>
              </a:rPr>
              <a:t>Диаграмма последовательности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8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48A"/>
                </a:solidFill>
                <a:latin typeface="Arial"/>
              </a:rPr>
              <a:t>TasteNest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0" y="128473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9737A"/>
                </a:solidFill>
                <a:latin typeface="Arial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828800"/>
            <a:ext cx="2743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99339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D3D3E"/>
                </a:solidFill>
                <a:latin typeface="Arial"/>
              </a:rPr>
              <a:t>Пользователь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423160"/>
            <a:ext cx="0" cy="8275320"/>
          </a:xfrm>
          <a:prstGeom prst="line">
            <a:avLst/>
          </a:prstGeom>
          <a:ln>
            <a:solidFill>
              <a:srgbClr val="AABDD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80" y="1828800"/>
            <a:ext cx="2743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9339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D3D3E"/>
                </a:solidFill>
                <a:latin typeface="Arial"/>
              </a:rPr>
              <a:t>WPF-интерфейс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55279" y="2423160"/>
            <a:ext cx="0" cy="8275320"/>
          </a:xfrm>
          <a:prstGeom prst="line">
            <a:avLst/>
          </a:prstGeom>
          <a:ln>
            <a:solidFill>
              <a:srgbClr val="AABDD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338560" y="1828800"/>
            <a:ext cx="2743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0" y="199339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D3D3E"/>
                </a:solidFill>
                <a:latin typeface="Arial"/>
              </a:rPr>
              <a:t>Database.cs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710160" y="2423160"/>
            <a:ext cx="0" cy="8275320"/>
          </a:xfrm>
          <a:prstGeom prst="line">
            <a:avLst/>
          </a:prstGeom>
          <a:ln>
            <a:solidFill>
              <a:srgbClr val="AABDD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6093440" y="1828800"/>
            <a:ext cx="2743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184880" y="199339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D3D3E"/>
                </a:solidFill>
                <a:latin typeface="Arial"/>
              </a:rPr>
              <a:t>SQL Server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465040" y="2423160"/>
            <a:ext cx="0" cy="8275320"/>
          </a:xfrm>
          <a:prstGeom prst="line">
            <a:avLst/>
          </a:prstGeom>
          <a:ln>
            <a:solidFill>
              <a:srgbClr val="AABDD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0208240" y="1828800"/>
            <a:ext cx="2743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299680" y="199339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D3D3E"/>
                </a:solidFill>
                <a:latin typeface="Arial"/>
              </a:rPr>
              <a:t>Окно рецепта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579840" y="2423160"/>
            <a:ext cx="0" cy="8275320"/>
          </a:xfrm>
          <a:prstGeom prst="line">
            <a:avLst/>
          </a:prstGeom>
          <a:ln>
            <a:solidFill>
              <a:srgbClr val="AABDD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200400" y="2971800"/>
            <a:ext cx="4754879" cy="0"/>
          </a:xfrm>
          <a:prstGeom prst="line">
            <a:avLst/>
          </a:prstGeom>
          <a:ln w="19050">
            <a:solidFill>
              <a:srgbClr val="1E5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37560" y="2715768"/>
            <a:ext cx="44805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D3D3E"/>
                </a:solidFill>
                <a:latin typeface="Arial"/>
              </a:rPr>
              <a:t>Выбирает рецепт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55279" y="4023360"/>
            <a:ext cx="4754881" cy="0"/>
          </a:xfrm>
          <a:prstGeom prst="line">
            <a:avLst/>
          </a:prstGeom>
          <a:ln w="19050">
            <a:solidFill>
              <a:srgbClr val="1E5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92440" y="3767328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D3D3E"/>
                </a:solidFill>
                <a:latin typeface="Arial"/>
              </a:rPr>
              <a:t>GetRecipeById(recipeId)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710160" y="5074920"/>
            <a:ext cx="4754880" cy="0"/>
          </a:xfrm>
          <a:prstGeom prst="line">
            <a:avLst/>
          </a:prstGeom>
          <a:ln w="19050">
            <a:solidFill>
              <a:srgbClr val="1E5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2847320" y="4818888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D3D3E"/>
                </a:solidFill>
                <a:latin typeface="Arial"/>
              </a:rPr>
              <a:t>SELECT Recipe + Ingredients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2710160" y="6126480"/>
            <a:ext cx="4754880" cy="0"/>
          </a:xfrm>
          <a:prstGeom prst="line">
            <a:avLst/>
          </a:prstGeom>
          <a:ln w="19050">
            <a:solidFill>
              <a:srgbClr val="1E5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847320" y="5870448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D3D3E"/>
                </a:solidFill>
                <a:latin typeface="Arial"/>
              </a:rPr>
              <a:t>Данные рецепта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2710160" y="7178040"/>
            <a:ext cx="8869680" cy="0"/>
          </a:xfrm>
          <a:prstGeom prst="line">
            <a:avLst/>
          </a:prstGeom>
          <a:ln w="19050">
            <a:solidFill>
              <a:srgbClr val="1E5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847320" y="6922007"/>
            <a:ext cx="8595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D3D3E"/>
                </a:solidFill>
                <a:latin typeface="Arial"/>
              </a:rPr>
              <a:t>Передача модели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955279" y="8229600"/>
            <a:ext cx="13624561" cy="0"/>
          </a:xfrm>
          <a:prstGeom prst="line">
            <a:avLst/>
          </a:prstGeom>
          <a:ln w="19050">
            <a:solidFill>
              <a:srgbClr val="1E5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092440" y="7973568"/>
            <a:ext cx="1335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D3D3E"/>
                </a:solidFill>
                <a:latin typeface="Arial"/>
              </a:rPr>
              <a:t>Показ карточки рецепта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955279" y="9281160"/>
            <a:ext cx="4754881" cy="0"/>
          </a:xfrm>
          <a:prstGeom prst="line">
            <a:avLst/>
          </a:prstGeom>
          <a:ln w="19050">
            <a:solidFill>
              <a:srgbClr val="1E5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092440" y="9025128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D3D3E"/>
                </a:solidFill>
                <a:latin typeface="Arial"/>
              </a:rPr>
              <a:t>AddRecipeView()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2710160" y="10104120"/>
            <a:ext cx="4754880" cy="0"/>
          </a:xfrm>
          <a:prstGeom prst="line">
            <a:avLst/>
          </a:prstGeom>
          <a:ln w="19050">
            <a:solidFill>
              <a:srgbClr val="1E5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2847320" y="9848088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D3D3E"/>
                </a:solidFill>
                <a:latin typeface="Arial"/>
              </a:rPr>
              <a:t>INSERT RecipeView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" y="11247120"/>
            <a:ext cx="21762720" cy="640080"/>
          </a:xfrm>
          <a:prstGeom prst="roundRect">
            <a:avLst/>
          </a:prstGeom>
          <a:solidFill>
            <a:srgbClr val="E8FBF4"/>
          </a:solidFill>
          <a:ln w="12700">
            <a:solidFill>
              <a:srgbClr val="C5E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34440" y="11430000"/>
            <a:ext cx="20848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348A"/>
                </a:solidFill>
                <a:latin typeface="Arial"/>
              </a:rPr>
              <a:t>Результат: пользователь видит рецепт, а история просмотра сохраняется в базе данных.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71600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0292" cy="13716000"/>
          </a:xfrm>
          <a:prstGeom prst="rect">
            <a:avLst/>
          </a:prstGeom>
          <a:solidFill>
            <a:srgbClr val="14D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4D99F"/>
                </a:solidFill>
                <a:latin typeface="Arial"/>
              </a:rPr>
              <a:t>ОСНОВНОЙ СЦЕНАРИЙ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4813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3D3D3E"/>
                </a:solidFill>
                <a:latin typeface="Arial"/>
              </a:rPr>
              <a:t>Функционал пользователя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8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48A"/>
                </a:solidFill>
                <a:latin typeface="Arial"/>
              </a:rPr>
              <a:t>TasteNest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0" y="128473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9737A"/>
                </a:solidFill>
                <a:latin typeface="Arial"/>
              </a:rPr>
              <a:t>07</a:t>
            </a:r>
          </a:p>
        </p:txBody>
      </p:sp>
      <p:pic>
        <p:nvPicPr>
          <p:cNvPr id="8" name="Picture 7" descr="app-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00200"/>
            <a:ext cx="12984480" cy="7680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4493240" y="1600200"/>
            <a:ext cx="8046720" cy="7680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50440" y="205740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3D3E"/>
                </a:solidFill>
                <a:latin typeface="Arial"/>
              </a:rPr>
              <a:t>Возможности пользователя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50440" y="2788920"/>
            <a:ext cx="7040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D3D3E"/>
                </a:solidFill>
                <a:latin typeface="Arial"/>
              </a:defRPr>
            </a:pPr>
            <a:r>
              <a:t>поиск рецептов по названию, категории и ингредиентам</a:t>
            </a:r>
          </a:p>
          <a:p>
            <a:pPr>
              <a:spcAft>
                <a:spcPts val="600"/>
              </a:spcAft>
              <a:defRPr sz="1500">
                <a:solidFill>
                  <a:srgbClr val="3D3D3E"/>
                </a:solidFill>
                <a:latin typeface="Arial"/>
              </a:defRPr>
            </a:pPr>
            <a:r>
              <a:t>избранные рецепты и история просмотров</a:t>
            </a:r>
          </a:p>
          <a:p>
            <a:pPr>
              <a:spcAft>
                <a:spcPts val="600"/>
              </a:spcAft>
              <a:defRPr sz="1500">
                <a:solidFill>
                  <a:srgbClr val="3D3D3E"/>
                </a:solidFill>
                <a:latin typeface="Arial"/>
              </a:defRPr>
            </a:pPr>
            <a:r>
              <a:t>хранилище продуктов со сроками годности</a:t>
            </a:r>
          </a:p>
          <a:p>
            <a:pPr>
              <a:spcAft>
                <a:spcPts val="600"/>
              </a:spcAft>
              <a:defRPr sz="1500">
                <a:solidFill>
                  <a:srgbClr val="3D3D3E"/>
                </a:solidFill>
                <a:latin typeface="Arial"/>
              </a:defRPr>
            </a:pPr>
            <a:r>
              <a:t>план питания и список покупок</a:t>
            </a:r>
          </a:p>
          <a:p>
            <a:pPr>
              <a:spcAft>
                <a:spcPts val="600"/>
              </a:spcAft>
              <a:defRPr sz="1500">
                <a:solidFill>
                  <a:srgbClr val="3D3D3E"/>
                </a:solidFill>
                <a:latin typeface="Arial"/>
              </a:defRPr>
            </a:pPr>
            <a:r>
              <a:t>отправка собственного рецепта на модерацию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950440" y="6995160"/>
            <a:ext cx="2788920" cy="411480"/>
          </a:xfrm>
          <a:prstGeom prst="roundRect">
            <a:avLst/>
          </a:prstGeom>
          <a:solidFill>
            <a:srgbClr val="00348A"/>
          </a:solidFill>
          <a:ln w="12700">
            <a:solidFill>
              <a:srgbClr val="003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41880" y="7068312"/>
            <a:ext cx="2606039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Рецепты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196560" y="6995160"/>
            <a:ext cx="2788920" cy="411480"/>
          </a:xfrm>
          <a:prstGeom prst="roundRect">
            <a:avLst/>
          </a:prstGeom>
          <a:solidFill>
            <a:srgbClr val="E8FBF4"/>
          </a:solidFill>
          <a:ln w="12700">
            <a:solidFill>
              <a:srgbClr val="E8F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0" y="7068312"/>
            <a:ext cx="2606039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48A"/>
                </a:solidFill>
                <a:latin typeface="Arial"/>
              </a:rPr>
              <a:t>Продукты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950440" y="7680960"/>
            <a:ext cx="2788920" cy="411480"/>
          </a:xfrm>
          <a:prstGeom prst="roundRect">
            <a:avLst/>
          </a:prstGeom>
          <a:solidFill>
            <a:srgbClr val="E8FBF4"/>
          </a:solidFill>
          <a:ln w="12700">
            <a:solidFill>
              <a:srgbClr val="E8F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41880" y="7754112"/>
            <a:ext cx="2606039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48A"/>
                </a:solidFill>
                <a:latin typeface="Arial"/>
              </a:rPr>
              <a:t>Покупки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96560" y="7680960"/>
            <a:ext cx="2788920" cy="411480"/>
          </a:xfrm>
          <a:prstGeom prst="roundRect">
            <a:avLst/>
          </a:prstGeom>
          <a:solidFill>
            <a:srgbClr val="E8FBF4"/>
          </a:solidFill>
          <a:ln w="12700">
            <a:solidFill>
              <a:srgbClr val="E8F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0" y="7754112"/>
            <a:ext cx="2606039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48A"/>
                </a:solidFill>
                <a:latin typeface="Arial"/>
              </a:rPr>
              <a:t>Статистика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71600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0292" cy="13716000"/>
          </a:xfrm>
          <a:prstGeom prst="rect">
            <a:avLst/>
          </a:prstGeom>
          <a:solidFill>
            <a:srgbClr val="14D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4D99F"/>
                </a:solidFill>
                <a:latin typeface="Arial"/>
              </a:rPr>
              <a:t>ПОДДЕРЖКА ПОЛЬЗОВАТЕЛЕЙ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4813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3D3D3E"/>
                </a:solidFill>
                <a:latin typeface="Arial"/>
              </a:rPr>
              <a:t>Функционал оператора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8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48A"/>
                </a:solidFill>
                <a:latin typeface="Arial"/>
              </a:rPr>
              <a:t>TasteNest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0" y="128473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9737A"/>
                </a:solidFill>
                <a:latin typeface="Arial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600200"/>
            <a:ext cx="14630400" cy="8869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01168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3D3E"/>
                </a:solidFill>
                <a:latin typeface="Arial"/>
              </a:rPr>
              <a:t>Панель пользователей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2788920"/>
            <a:ext cx="2834640" cy="502920"/>
          </a:xfrm>
          <a:prstGeom prst="rect">
            <a:avLst/>
          </a:prstGeom>
          <a:solidFill>
            <a:srgbClr val="EAF0F8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0472" y="2935224"/>
            <a:ext cx="268833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3D3D3E"/>
                </a:solidFill>
                <a:latin typeface="Arial"/>
              </a:rPr>
              <a:t>Email / логин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788920"/>
            <a:ext cx="1554480" cy="502920"/>
          </a:xfrm>
          <a:prstGeom prst="rect">
            <a:avLst/>
          </a:prstGeom>
          <a:solidFill>
            <a:srgbClr val="EAF0F8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2935224"/>
            <a:ext cx="14081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3D3D3E"/>
                </a:solidFill>
                <a:latin typeface="Arial"/>
              </a:rPr>
              <a:t>Статус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2788920"/>
            <a:ext cx="1920240" cy="502920"/>
          </a:xfrm>
          <a:prstGeom prst="rect">
            <a:avLst/>
          </a:prstGeom>
          <a:solidFill>
            <a:srgbClr val="EAF0F8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9592" y="2935224"/>
            <a:ext cx="177393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3D3D3E"/>
                </a:solidFill>
                <a:latin typeface="Arial"/>
              </a:rPr>
              <a:t>Регистрация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80" y="2788920"/>
            <a:ext cx="1097280" cy="502920"/>
          </a:xfrm>
          <a:prstGeom prst="rect">
            <a:avLst/>
          </a:prstGeom>
          <a:solidFill>
            <a:srgbClr val="EAF0F8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9832" y="2935224"/>
            <a:ext cx="950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3D3D3E"/>
                </a:solidFill>
                <a:latin typeface="Arial"/>
              </a:rPr>
              <a:t>Рецепты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2788920"/>
            <a:ext cx="1280160" cy="502920"/>
          </a:xfrm>
          <a:prstGeom prst="rect">
            <a:avLst/>
          </a:prstGeom>
          <a:solidFill>
            <a:srgbClr val="EAF0F8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7112" y="2935224"/>
            <a:ext cx="11338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3D3D3E"/>
                </a:solidFill>
                <a:latin typeface="Arial"/>
              </a:rPr>
              <a:t>Просмотры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4120" y="2788920"/>
            <a:ext cx="1188720" cy="502920"/>
          </a:xfrm>
          <a:prstGeom prst="rect">
            <a:avLst/>
          </a:prstGeom>
          <a:solidFill>
            <a:srgbClr val="EAF0F8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77272" y="2935224"/>
            <a:ext cx="104241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3D3D3E"/>
                </a:solidFill>
                <a:latin typeface="Arial"/>
              </a:rPr>
              <a:t>Продукты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92840" y="2788920"/>
            <a:ext cx="2011680" cy="502920"/>
          </a:xfrm>
          <a:prstGeom prst="rect">
            <a:avLst/>
          </a:prstGeom>
          <a:solidFill>
            <a:srgbClr val="EAF0F8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65992" y="2935224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3D3D3E"/>
                </a:solidFill>
                <a:latin typeface="Arial"/>
              </a:rPr>
              <a:t>Последний вход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3291839"/>
            <a:ext cx="2834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90472" y="3438144"/>
            <a:ext cx="268833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user@mail.ru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3291839"/>
            <a:ext cx="15544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5112" y="3438144"/>
            <a:ext cx="14081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активен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3291839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9592" y="3438144"/>
            <a:ext cx="177393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18.05.2026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6680" y="3291839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9832" y="3438144"/>
            <a:ext cx="950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23960" y="3291839"/>
            <a:ext cx="12801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97112" y="3438144"/>
            <a:ext cx="11338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04120" y="3291839"/>
            <a:ext cx="1188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3438144"/>
            <a:ext cx="104241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292840" y="3291839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65992" y="3438144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25.05.2026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17320" y="3794760"/>
            <a:ext cx="2834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90472" y="3941064"/>
            <a:ext cx="268833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demo_user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3794760"/>
            <a:ext cx="1554480" cy="502920"/>
          </a:xfrm>
          <a:prstGeom prst="rect">
            <a:avLst/>
          </a:prstGeom>
          <a:solidFill>
            <a:srgbClr val="E8FBF4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25112" y="3941064"/>
            <a:ext cx="14081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заблокирован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06440" y="3794760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79592" y="3941064"/>
            <a:ext cx="177393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19.05.2026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26680" y="379476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99832" y="3941064"/>
            <a:ext cx="950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23960" y="3794760"/>
            <a:ext cx="12801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97112" y="3941064"/>
            <a:ext cx="11338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04120" y="3794760"/>
            <a:ext cx="1188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77272" y="3941064"/>
            <a:ext cx="104241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292840" y="379476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365992" y="3941064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17320" y="4297680"/>
            <a:ext cx="2834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90472" y="4443984"/>
            <a:ext cx="268833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recipefan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51960" y="4297680"/>
            <a:ext cx="15544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25112" y="4443984"/>
            <a:ext cx="14081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активен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06440" y="4297680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79592" y="4443984"/>
            <a:ext cx="177393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20.05.2026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26680" y="429768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99832" y="4443984"/>
            <a:ext cx="950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23960" y="4297680"/>
            <a:ext cx="12801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97112" y="4443984"/>
            <a:ext cx="11338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31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04120" y="4297680"/>
            <a:ext cx="1188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77272" y="4443984"/>
            <a:ext cx="104241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292840" y="429768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365992" y="4443984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3D3E"/>
                </a:solidFill>
                <a:latin typeface="Arial"/>
              </a:rPr>
              <a:t>26.05.2026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17320" y="5166360"/>
            <a:ext cx="1234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48A"/>
                </a:solidFill>
                <a:latin typeface="Arial"/>
              </a:rPr>
              <a:t>Фильтры: все · активные · заблокированные · без активности · проблемные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6459200" y="1828800"/>
            <a:ext cx="5852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6715232" y="2084832"/>
            <a:ext cx="438912" cy="438912"/>
          </a:xfrm>
          <a:prstGeom prst="ellipse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815816" y="215798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48A"/>
                </a:solidFill>
                <a:latin typeface="Arial"/>
              </a:rPr>
              <a:t>!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327880" y="205740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3D3D3E"/>
                </a:solidFill>
                <a:latin typeface="Arial"/>
              </a:rPr>
              <a:t>Действия оператора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327880" y="2487168"/>
            <a:ext cx="47548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9737A"/>
                </a:solidFill>
                <a:latin typeface="Arial"/>
              </a:rPr>
              <a:t>Блокировка/разблокировка, причина блокировки, служебная заметка, просмотр активности и журнал действий.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6459200" y="4251960"/>
            <a:ext cx="5852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6715232" y="4507992"/>
            <a:ext cx="438912" cy="438912"/>
          </a:xfrm>
          <a:prstGeom prst="ellipse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6815816" y="458114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48A"/>
                </a:solidFill>
                <a:latin typeface="Arial"/>
              </a:rPr>
              <a:t>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327880" y="448056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3D3D3E"/>
                </a:solidFill>
                <a:latin typeface="Arial"/>
              </a:rPr>
              <a:t>Ограничение прав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327880" y="4910328"/>
            <a:ext cx="47548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9737A"/>
                </a:solidFill>
                <a:latin typeface="Arial"/>
              </a:rPr>
              <a:t>Оператор видит только User. Он не меняет роли, не управляет сервером и не модерирует рецепты.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6459200" y="6675120"/>
            <a:ext cx="5852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6715232" y="6931152"/>
            <a:ext cx="438912" cy="438912"/>
          </a:xfrm>
          <a:prstGeom prst="ellipse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815816" y="700430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48A"/>
                </a:solidFill>
                <a:latin typeface="Arial"/>
              </a:rPr>
              <a:t>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327880" y="690372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3D3D3E"/>
                </a:solidFill>
                <a:latin typeface="Arial"/>
              </a:rPr>
              <a:t>Журнал действий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327880" y="7333488"/>
            <a:ext cx="47548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9737A"/>
                </a:solidFill>
                <a:latin typeface="Arial"/>
              </a:rPr>
              <a:t>Фиксируется оператор, пользователь, дата, причина, комментарий и изменение статуса.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716000"/>
          </a:xfrm>
          <a:prstGeom prst="rect">
            <a:avLst/>
          </a:prstGeom>
          <a:solidFill>
            <a:srgbClr val="003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0292" cy="13716000"/>
          </a:xfrm>
          <a:prstGeom prst="rect">
            <a:avLst/>
          </a:prstGeom>
          <a:solidFill>
            <a:srgbClr val="14D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4D99F"/>
                </a:solidFill>
                <a:latin typeface="Arial"/>
              </a:rPr>
              <a:t>ПОЛНЫЙ КОНТРОЛЬ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4813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3D3D3E"/>
                </a:solidFill>
                <a:latin typeface="Arial"/>
              </a:rPr>
              <a:t>Функционал администратора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8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48A"/>
                </a:solidFill>
                <a:latin typeface="Arial"/>
              </a:rPr>
              <a:t>TasteNest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0" y="128473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9737A"/>
                </a:solidFill>
                <a:latin typeface="Arial"/>
              </a:rPr>
              <a:t>09</a:t>
            </a:r>
          </a:p>
        </p:txBody>
      </p:sp>
      <p:pic>
        <p:nvPicPr>
          <p:cNvPr id="8" name="Picture 7" descr="app-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26285"/>
            <a:ext cx="12984480" cy="70287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4493240" y="1600200"/>
            <a:ext cx="8046720" cy="7680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50440" y="205740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3D3E"/>
                </a:solidFill>
                <a:latin typeface="Arial"/>
              </a:rPr>
              <a:t>Администратор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50440" y="2788920"/>
            <a:ext cx="7040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D3D3E"/>
                </a:solidFill>
                <a:latin typeface="Arial"/>
              </a:defRPr>
            </a:pPr>
            <a:r>
              <a:t>назначает роли User и Operator</a:t>
            </a:r>
          </a:p>
          <a:p>
            <a:pPr>
              <a:spcAft>
                <a:spcPts val="600"/>
              </a:spcAft>
              <a:defRPr sz="1500">
                <a:solidFill>
                  <a:srgbClr val="3D3D3E"/>
                </a:solidFill>
                <a:latin typeface="Arial"/>
              </a:defRPr>
            </a:pPr>
            <a:r>
              <a:t>блокирует и разблокирует аккаунты</a:t>
            </a:r>
          </a:p>
          <a:p>
            <a:pPr>
              <a:spcAft>
                <a:spcPts val="600"/>
              </a:spcAft>
              <a:defRPr sz="1500">
                <a:solidFill>
                  <a:srgbClr val="3D3D3E"/>
                </a:solidFill>
                <a:latin typeface="Arial"/>
              </a:defRPr>
            </a:pPr>
            <a:r>
              <a:t>модерирует рецепты пользователей</a:t>
            </a:r>
          </a:p>
          <a:p>
            <a:pPr>
              <a:spcAft>
                <a:spcPts val="600"/>
              </a:spcAft>
              <a:defRPr sz="1500">
                <a:solidFill>
                  <a:srgbClr val="3D3D3E"/>
                </a:solidFill>
                <a:latin typeface="Arial"/>
              </a:defRPr>
            </a:pPr>
            <a:r>
              <a:t>удаляет лишние или ошибочные рецепты</a:t>
            </a:r>
          </a:p>
          <a:p>
            <a:pPr>
              <a:spcAft>
                <a:spcPts val="600"/>
              </a:spcAft>
              <a:defRPr sz="1500">
                <a:solidFill>
                  <a:srgbClr val="3D3D3E"/>
                </a:solidFill>
                <a:latin typeface="Arial"/>
              </a:defRPr>
            </a:pPr>
            <a:r>
              <a:t>включает и выключает SQL Server Express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950440" y="6995160"/>
            <a:ext cx="6858000" cy="1005840"/>
          </a:xfrm>
          <a:prstGeom prst="roundRect">
            <a:avLst/>
          </a:prstGeom>
          <a:solidFill>
            <a:srgbClr val="E8FBF4"/>
          </a:solidFill>
          <a:ln w="12700">
            <a:solidFill>
              <a:srgbClr val="C5E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70480" y="7296912"/>
            <a:ext cx="6263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348A"/>
                </a:solidFill>
                <a:latin typeface="Arial"/>
              </a:rPr>
              <a:t>Главный администратор защищён от смены роли и блокировки.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4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16642080" y="0"/>
            <a:ext cx="7772400" cy="13716000"/>
          </a:xfrm>
          <a:prstGeom prst="rtTriangle">
            <a:avLst/>
          </a:prstGeom>
          <a:solidFill>
            <a:srgbClr val="1E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612880"/>
            <a:ext cx="24414480" cy="164592"/>
          </a:xfrm>
          <a:prstGeom prst="rect">
            <a:avLst/>
          </a:prstGeom>
          <a:solidFill>
            <a:srgbClr val="14D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steNest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005840"/>
            <a:ext cx="4947112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466344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Спасибо за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852160"/>
            <a:ext cx="1234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D8EFFF"/>
                </a:solidFill>
                <a:latin typeface="Arial"/>
              </a:rPr>
              <a:t>TasteNest — рецепты, продукты и планирование питания в одной системе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79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Тарасюк Н. С. · Чиркова И. А. · 3524П1ИН2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0" y="128473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D8EFF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итульное оформление">
  <a:themeElements>
    <a:clrScheme name="Университет_юбиленый шаблон">
      <a:dk1>
        <a:srgbClr val="00348A"/>
      </a:dk1>
      <a:lt1>
        <a:srgbClr val="FFFFFF"/>
      </a:lt1>
      <a:dk2>
        <a:srgbClr val="404040"/>
      </a:dk2>
      <a:lt2>
        <a:srgbClr val="FFFFFF"/>
      </a:lt2>
      <a:accent1>
        <a:srgbClr val="14D49F"/>
      </a:accent1>
      <a:accent2>
        <a:srgbClr val="1E52A8"/>
      </a:accent2>
      <a:accent3>
        <a:srgbClr val="FF9B71"/>
      </a:accent3>
      <a:accent4>
        <a:srgbClr val="E2EEFF"/>
      </a:accent4>
      <a:accent5>
        <a:srgbClr val="8DC8F7"/>
      </a:accent5>
      <a:accent6>
        <a:srgbClr val="404040"/>
      </a:accent6>
      <a:hlink>
        <a:srgbClr val="00348A"/>
      </a:hlink>
      <a:folHlink>
        <a:srgbClr val="FF9B71"/>
      </a:folHlink>
    </a:clrScheme>
    <a:fontScheme name="Другая 1">
      <a:majorFont>
        <a:latin typeface="Actay Wide Bd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Макет темная тема">
  <a:themeElements>
    <a:clrScheme name="Университет_юбиленый шаблон">
      <a:dk1>
        <a:srgbClr val="00348A"/>
      </a:dk1>
      <a:lt1>
        <a:srgbClr val="FFFFFF"/>
      </a:lt1>
      <a:dk2>
        <a:srgbClr val="404040"/>
      </a:dk2>
      <a:lt2>
        <a:srgbClr val="FFFFFF"/>
      </a:lt2>
      <a:accent1>
        <a:srgbClr val="14D49F"/>
      </a:accent1>
      <a:accent2>
        <a:srgbClr val="1E52A8"/>
      </a:accent2>
      <a:accent3>
        <a:srgbClr val="FF9B71"/>
      </a:accent3>
      <a:accent4>
        <a:srgbClr val="E2EEFF"/>
      </a:accent4>
      <a:accent5>
        <a:srgbClr val="8DC8F7"/>
      </a:accent5>
      <a:accent6>
        <a:srgbClr val="404040"/>
      </a:accent6>
      <a:hlink>
        <a:srgbClr val="00348A"/>
      </a:hlink>
      <a:folHlink>
        <a:srgbClr val="FF9B71"/>
      </a:folHlink>
    </a:clrScheme>
    <a:fontScheme name="Другая 1">
      <a:majorFont>
        <a:latin typeface="Actay Wide Bd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Макет светлая тема">
  <a:themeElements>
    <a:clrScheme name="Университет_юбиленый шаблон">
      <a:dk1>
        <a:srgbClr val="00348A"/>
      </a:dk1>
      <a:lt1>
        <a:srgbClr val="FFFFFF"/>
      </a:lt1>
      <a:dk2>
        <a:srgbClr val="404040"/>
      </a:dk2>
      <a:lt2>
        <a:srgbClr val="FFFFFF"/>
      </a:lt2>
      <a:accent1>
        <a:srgbClr val="14D49F"/>
      </a:accent1>
      <a:accent2>
        <a:srgbClr val="1E52A8"/>
      </a:accent2>
      <a:accent3>
        <a:srgbClr val="FF9B71"/>
      </a:accent3>
      <a:accent4>
        <a:srgbClr val="E2EEFF"/>
      </a:accent4>
      <a:accent5>
        <a:srgbClr val="F1F7FF"/>
      </a:accent5>
      <a:accent6>
        <a:srgbClr val="404040"/>
      </a:accent6>
      <a:hlink>
        <a:srgbClr val="00348A"/>
      </a:hlink>
      <a:folHlink>
        <a:srgbClr val="FF9B71"/>
      </a:folHlink>
    </a:clrScheme>
    <a:fontScheme name="Основной шрифт">
      <a:majorFont>
        <a:latin typeface="Actay Wide Bd"/>
        <a:ea typeface=""/>
        <a:cs typeface=""/>
      </a:majorFont>
      <a:minorFont>
        <a:latin typeface="Arial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F42F84B7-8B5B-448E-86DB-4D78C2690DD9}" vid="{427C3DE2-6AF0-4F8A-BF55-E78C8CC7E75D}"/>
    </a:ext>
  </a:extLst>
</a:theme>
</file>

<file path=ppt/theme/theme4.xml><?xml version="1.0" encoding="utf-8"?>
<a:theme xmlns:a="http://schemas.openxmlformats.org/drawingml/2006/main" name="Специальное оформление 1">
  <a:themeElements>
    <a:clrScheme name="Университет_юбиленый шаблон">
      <a:dk1>
        <a:srgbClr val="00348A"/>
      </a:dk1>
      <a:lt1>
        <a:srgbClr val="FFFFFF"/>
      </a:lt1>
      <a:dk2>
        <a:srgbClr val="404040"/>
      </a:dk2>
      <a:lt2>
        <a:srgbClr val="FFFFFF"/>
      </a:lt2>
      <a:accent1>
        <a:srgbClr val="14D49F"/>
      </a:accent1>
      <a:accent2>
        <a:srgbClr val="1E52A8"/>
      </a:accent2>
      <a:accent3>
        <a:srgbClr val="FF9B71"/>
      </a:accent3>
      <a:accent4>
        <a:srgbClr val="E2EEFF"/>
      </a:accent4>
      <a:accent5>
        <a:srgbClr val="F1F7FF"/>
      </a:accent5>
      <a:accent6>
        <a:srgbClr val="404040"/>
      </a:accent6>
      <a:hlink>
        <a:srgbClr val="00348A"/>
      </a:hlink>
      <a:folHlink>
        <a:srgbClr val="FF9B71"/>
      </a:folHlink>
    </a:clrScheme>
    <a:fontScheme name="Основной шрифт">
      <a:majorFont>
        <a:latin typeface="Actay Wide Bd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Специальное оформление 2">
  <a:themeElements>
    <a:clrScheme name="Университет_юбиленый шаблон">
      <a:dk1>
        <a:srgbClr val="00348A"/>
      </a:dk1>
      <a:lt1>
        <a:srgbClr val="FFFFFF"/>
      </a:lt1>
      <a:dk2>
        <a:srgbClr val="404040"/>
      </a:dk2>
      <a:lt2>
        <a:srgbClr val="FFFFFF"/>
      </a:lt2>
      <a:accent1>
        <a:srgbClr val="14D49F"/>
      </a:accent1>
      <a:accent2>
        <a:srgbClr val="1E52A8"/>
      </a:accent2>
      <a:accent3>
        <a:srgbClr val="FF9B71"/>
      </a:accent3>
      <a:accent4>
        <a:srgbClr val="E2EEFF"/>
      </a:accent4>
      <a:accent5>
        <a:srgbClr val="8DC8F7"/>
      </a:accent5>
      <a:accent6>
        <a:srgbClr val="404040"/>
      </a:accent6>
      <a:hlink>
        <a:srgbClr val="00348A"/>
      </a:hlink>
      <a:folHlink>
        <a:srgbClr val="FF9B71"/>
      </a:folHlink>
    </a:clrScheme>
    <a:fontScheme name="Другая 1">
      <a:majorFont>
        <a:latin typeface="Actay Wide Bd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Специальное оформление 3">
  <a:themeElements>
    <a:clrScheme name="Университет_юбиленый шаблон">
      <a:dk1>
        <a:srgbClr val="00348A"/>
      </a:dk1>
      <a:lt1>
        <a:srgbClr val="FFFFFF"/>
      </a:lt1>
      <a:dk2>
        <a:srgbClr val="404040"/>
      </a:dk2>
      <a:lt2>
        <a:srgbClr val="FFFFFF"/>
      </a:lt2>
      <a:accent1>
        <a:srgbClr val="14D49F"/>
      </a:accent1>
      <a:accent2>
        <a:srgbClr val="1E52A8"/>
      </a:accent2>
      <a:accent3>
        <a:srgbClr val="FF9B71"/>
      </a:accent3>
      <a:accent4>
        <a:srgbClr val="E2EEFF"/>
      </a:accent4>
      <a:accent5>
        <a:srgbClr val="8DC8F7"/>
      </a:accent5>
      <a:accent6>
        <a:srgbClr val="404040"/>
      </a:accent6>
      <a:hlink>
        <a:srgbClr val="00348A"/>
      </a:hlink>
      <a:folHlink>
        <a:srgbClr val="FF9B71"/>
      </a:folHlink>
    </a:clrScheme>
    <a:fontScheme name="Другая 1">
      <a:majorFont>
        <a:latin typeface="Actay Wide Bd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790</TotalTime>
  <Words>660</Words>
  <Application>Microsoft Office PowerPoint</Application>
  <PresentationFormat>Произвольный</PresentationFormat>
  <Paragraphs>347</Paragraphs>
  <Slides>31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31</vt:i4>
      </vt:variant>
    </vt:vector>
  </HeadingPairs>
  <TitlesOfParts>
    <vt:vector size="46" baseType="lpstr">
      <vt:lpstr>Actay Wide Bd</vt:lpstr>
      <vt:lpstr>Actay Wide Bold</vt:lpstr>
      <vt:lpstr>Arial</vt:lpstr>
      <vt:lpstr>Arial Black</vt:lpstr>
      <vt:lpstr>Arial Bold</vt:lpstr>
      <vt:lpstr>Arial Regular</vt:lpstr>
      <vt:lpstr>Calibri</vt:lpstr>
      <vt:lpstr>Inter Bold</vt:lpstr>
      <vt:lpstr>Inter Regular</vt:lpstr>
      <vt:lpstr>Титульное оформление</vt:lpstr>
      <vt:lpstr>Макет темная тема</vt:lpstr>
      <vt:lpstr>Макет светлая тема</vt:lpstr>
      <vt:lpstr>Специальное оформление 1</vt:lpstr>
      <vt:lpstr>Специальное оформление 2</vt:lpstr>
      <vt:lpstr>Специальное оформление 3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Как быстро собрать презентацию  в фирменном стиле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LenKa</cp:lastModifiedBy>
  <cp:revision>476</cp:revision>
  <dcterms:created xsi:type="dcterms:W3CDTF">2026-04-17T07:07:44Z</dcterms:created>
  <dcterms:modified xsi:type="dcterms:W3CDTF">2026-05-22T09:08:45Z</dcterms:modified>
</cp:coreProperties>
</file>